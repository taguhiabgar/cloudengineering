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5" r:id="rId38"/>
    <p:sldId id="296" r:id="rId39"/>
    <p:sldId id="297" r:id="rId40"/>
    <p:sldId id="304" r:id="rId41"/>
    <p:sldId id="305" r:id="rId42"/>
    <p:sldId id="306" r:id="rId43"/>
    <p:sldId id="309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320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0C6C9-865A-BDA8-470F-783D09AE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DB71D-9C43-C583-8BBD-11A08E25A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04D59-40BC-90B3-07EB-EC95012E7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DFCBD-0666-3AF4-C66A-7DFD9F77B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78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54864" cy="5143500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1828800" y="804672"/>
            <a:ext cx="1554480" cy="36576"/>
          </a:xfrm>
          <a:prstGeom prst="rect">
            <a:avLst/>
          </a:prstGeom>
          <a:solidFill>
            <a:srgbClr val="42A5F5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1828800" y="1764792"/>
            <a:ext cx="1554480" cy="36576"/>
          </a:xfrm>
          <a:prstGeom prst="rect">
            <a:avLst/>
          </a:prstGeom>
          <a:solidFill>
            <a:srgbClr val="34D39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1828800" y="2724912"/>
            <a:ext cx="1554480" cy="36576"/>
          </a:xfrm>
          <a:prstGeom prst="rect">
            <a:avLst/>
          </a:prstGeom>
          <a:solidFill>
            <a:srgbClr val="FCD34D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5800" dirty="0"/>
          </a:p>
        </p:txBody>
      </p:sp>
      <p:sp>
        <p:nvSpPr>
          <p:cNvPr id="11" name="Shape 9"/>
          <p:cNvSpPr/>
          <p:nvPr/>
        </p:nvSpPr>
        <p:spPr>
          <a:xfrm>
            <a:off x="1828800" y="3685032"/>
            <a:ext cx="1554480" cy="36576"/>
          </a:xfrm>
          <a:prstGeom prst="rect">
            <a:avLst/>
          </a:prstGeom>
          <a:solidFill>
            <a:srgbClr val="A78BF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10972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CIAP Framework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931920" y="21214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CAF9"/>
                </a:solidFill>
              </a:rPr>
              <a:t>Confidentiality · Integrity · Availability · Proof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640080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90CAF9"/>
                </a:solidFill>
              </a:rPr>
              <a:t>Security Fundamentals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2A5F5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0CAF9"/>
                </a:solidFill>
              </a:rPr>
              <a:t>All labs must be performed in isolated, authorized environments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CIAP Framework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0CAF9"/>
                </a:solidFill>
              </a:rPr>
              <a:t>Four pillars of Information Security — most attacks threaten at least 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2084832" cy="3611880"/>
          </a:xfrm>
          <a:prstGeom prst="rect">
            <a:avLst/>
          </a:prstGeom>
          <a:solidFill>
            <a:srgbClr val="13253A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2084832" cy="54864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1353312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56032" y="230428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724912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Only authorised parties can access information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3547872"/>
            <a:ext cx="1901952" cy="45720"/>
          </a:xfrm>
          <a:prstGeom prst="rect">
            <a:avLst/>
          </a:prstGeom>
          <a:solidFill>
            <a:srgbClr val="42A5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3621024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"Can someone see it who shouldn't?"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261872"/>
            <a:ext cx="2084832" cy="3611880"/>
          </a:xfrm>
          <a:prstGeom prst="rect">
            <a:avLst/>
          </a:prstGeom>
          <a:solidFill>
            <a:srgbClr val="13253A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1261872"/>
            <a:ext cx="2084832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50592" y="1353312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450592" y="230428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2724912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Data cannot be tampered or altered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42032" y="3547872"/>
            <a:ext cx="1901952" cy="45720"/>
          </a:xfrm>
          <a:prstGeom prst="rect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42032" y="3621024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"Can someone change it undetected?"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45152" y="1261872"/>
            <a:ext cx="2084832" cy="3611880"/>
          </a:xfrm>
          <a:prstGeom prst="rect">
            <a:avLst/>
          </a:prstGeom>
          <a:solidFill>
            <a:srgbClr val="13253A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45152" y="1261872"/>
            <a:ext cx="2084832" cy="54864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45152" y="1353312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4645152" y="230428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36592" y="2724912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Systems accessible when needed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36592" y="3547872"/>
            <a:ext cx="1901952" cy="45720"/>
          </a:xfrm>
          <a:prstGeom prst="rect">
            <a:avLst/>
          </a:prstGeom>
          <a:solidFill>
            <a:srgbClr val="FCD34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36592" y="3621024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"Can someone block access?"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39712" y="1261872"/>
            <a:ext cx="2084832" cy="3611880"/>
          </a:xfrm>
          <a:prstGeom prst="rect">
            <a:avLst/>
          </a:prstGeom>
          <a:solidFill>
            <a:srgbClr val="13253A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39712" y="1261872"/>
            <a:ext cx="2084832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39712" y="1353312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5600" dirty="0"/>
          </a:p>
        </p:txBody>
      </p:sp>
      <p:sp>
        <p:nvSpPr>
          <p:cNvPr id="28" name="Text 26"/>
          <p:cNvSpPr/>
          <p:nvPr/>
        </p:nvSpPr>
        <p:spPr>
          <a:xfrm>
            <a:off x="6839712" y="2304288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31152" y="2724912"/>
            <a:ext cx="1901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Actions traced and verified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31152" y="3547872"/>
            <a:ext cx="1901952" cy="45720"/>
          </a:xfrm>
          <a:prstGeom prst="rect">
            <a:avLst/>
          </a:prstGeom>
          <a:solidFill>
            <a:srgbClr val="A78BF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31152" y="3621024"/>
            <a:ext cx="1901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"Can someone deny doing it?"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1645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1565C0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2103120" y="457200"/>
            <a:ext cx="36576" cy="402336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331720" y="54864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331720" y="1298448"/>
            <a:ext cx="6492240" cy="36576"/>
          </a:xfrm>
          <a:prstGeom prst="rect">
            <a:avLst/>
          </a:prstGeom>
          <a:solidFill>
            <a:srgbClr val="1565C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31720" y="1426464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In this section: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828800"/>
            <a:ext cx="6492240" cy="603504"/>
          </a:xfrm>
          <a:prstGeom prst="rect">
            <a:avLst/>
          </a:prstGeom>
          <a:solidFill>
            <a:srgbClr val="1565C0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31720" y="1828800"/>
            <a:ext cx="45720" cy="60350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87168" y="1828800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What confidentiality is and why it matters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2542032"/>
            <a:ext cx="6492240" cy="603504"/>
          </a:xfrm>
          <a:prstGeom prst="rect">
            <a:avLst/>
          </a:prstGeom>
          <a:solidFill>
            <a:srgbClr val="1565C0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31720" y="2542032"/>
            <a:ext cx="45720" cy="60350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87168" y="2542032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Authentication: verifying who you are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31720" y="3255264"/>
            <a:ext cx="6492240" cy="603504"/>
          </a:xfrm>
          <a:prstGeom prst="rect">
            <a:avLst/>
          </a:prstGeom>
          <a:solidFill>
            <a:srgbClr val="1565C0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31720" y="3255264"/>
            <a:ext cx="45720" cy="60350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87168" y="3255264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Authorization: controlling what you can do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3968496"/>
            <a:ext cx="6492240" cy="603504"/>
          </a:xfrm>
          <a:prstGeom prst="rect">
            <a:avLst/>
          </a:prstGeom>
          <a:solidFill>
            <a:srgbClr val="1565C0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31720" y="3968496"/>
            <a:ext cx="45720" cy="60350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87168" y="3968496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Common attacks and how to defend against them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CONFIDENTIALITY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Confidentiality: Keep Secrets Secret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822960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54864" cy="82296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"Only people you explicitly choose can see the data — everyone else is locked out, even if they can reach the system."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This is enforced through encryption, access controls, and authentication — working together.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2011680" cy="2542032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2011680" cy="45720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Encryption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18288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Scrambles data so only key holders can read it — useless to anyone without the key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14600" y="2331720"/>
            <a:ext cx="2011680" cy="2542032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14600" y="2331720"/>
            <a:ext cx="2011680" cy="45720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14600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606040" y="2971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Access Controls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3291840"/>
            <a:ext cx="18288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Rules that define which users can see or modify which resources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2011680" cy="2542032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2011680" cy="45720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54880" y="2971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Authentication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291840"/>
            <a:ext cx="18288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Verifying identity before granting any access at all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2331720"/>
            <a:ext cx="2011680" cy="2542032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812280" y="2331720"/>
            <a:ext cx="2011680" cy="45720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23957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03720" y="2971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</a:rPr>
              <a:t>Network Segmentation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3291840"/>
            <a:ext cx="18288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Isolating sensitive systems so they cannot be reached by unauthorised parties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CONFIDENTIALITY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T-Mobile Breach 2021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011680" cy="3566160"/>
          </a:xfrm>
          <a:prstGeom prst="rect">
            <a:avLst/>
          </a:prstGeom>
          <a:solidFill>
            <a:srgbClr val="FFF1F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201168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What happened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182880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Hackers compromised a router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Accessed 100+ internal servers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Reached customer PII database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1325880"/>
            <a:ext cx="2011680" cy="3566160"/>
          </a:xfrm>
          <a:prstGeom prst="rect">
            <a:avLst/>
          </a:prstGeom>
          <a:solidFill>
            <a:srgbClr val="FFF1F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1325880"/>
            <a:ext cx="201168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13990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Data stolen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1719072"/>
            <a:ext cx="182880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Names, dates of birth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Social Security Numbers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Driver's licence information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Sold on the dark web afterwards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2011680" cy="3566160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2011680" cy="45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3990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719072"/>
            <a:ext cx="182880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50 million people affected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Data used for identity theft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Multiple T-Mobile breaches before this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1325880"/>
            <a:ext cx="2011680" cy="3566160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12280" y="1325880"/>
            <a:ext cx="201168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13990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</a:rPr>
              <a:t>How to prevent 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1719072"/>
            <a:ext cx="182880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Encrypt stored data (cleartext was readable)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Network segmentation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Monitor for anomalous access patterns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Patch all internet-facing systems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CONFIDENTIALITY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Who Are You?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"Authentication is the process of verifying the identity of a user before granting any access."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719072"/>
            <a:ext cx="859536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CONFIDENTIALITY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Vulnerabilities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1143000"/>
          </a:xfrm>
          <a:prstGeom prst="rect">
            <a:avLst/>
          </a:prstGeom>
          <a:solidFill>
            <a:srgbClr val="FFF1F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54864" cy="1143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🔨 Brute Force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Try every possible password until correct. Mitigated by: account lockout after N failed attempts, rate limiting, CAPTCHA.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87752"/>
            <a:ext cx="8412480" cy="1143000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587752"/>
            <a:ext cx="54864" cy="114300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</a:rPr>
              <a:t>🔁 Credential Stuffing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Take leaked username/password pairs from one breach and try them on other sites. Works because 65% of people reuse passwords.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849624"/>
            <a:ext cx="8412480" cy="1143000"/>
          </a:xfrm>
          <a:prstGeom prst="rect">
            <a:avLst/>
          </a:prstGeom>
          <a:solidFill>
            <a:srgbClr val="EDE9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849624"/>
            <a:ext cx="54864" cy="1143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9136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💥 Broken Authentication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279392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Logic flaws in the login code let attackers bypass it entirely — e.g. manipulate session cookies, skip password check, reset token flaws.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CONFIDENTIALITY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What Can You Do?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"Authorization defines what an authenticated user is allowed to do. It always comes AFTER authentication."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4407408"/>
            <a:ext cx="8412480" cy="658368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6"/>
          <p:cNvSpPr/>
          <p:nvPr/>
        </p:nvSpPr>
        <p:spPr>
          <a:xfrm>
            <a:off x="365760" y="4407408"/>
            <a:ext cx="54864" cy="65836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4471416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Bank example: Authentication = you log in. Authorization = you can see YOUR account only — not every other customer's account. Both are essential — one without the other is a vulnerability.</a:t>
            </a:r>
            <a:endParaRPr lang="en-US" sz="12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25F66CBE-81A3-5992-3401-72223109D9E1}"/>
              </a:ext>
            </a:extLst>
          </p:cNvPr>
          <p:cNvSpPr/>
          <p:nvPr/>
        </p:nvSpPr>
        <p:spPr>
          <a:xfrm>
            <a:off x="366123" y="1904753"/>
            <a:ext cx="4023360" cy="1325880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D690A3A3-61B0-67D1-F7A5-4A2B9D11870D}"/>
              </a:ext>
            </a:extLst>
          </p:cNvPr>
          <p:cNvSpPr/>
          <p:nvPr/>
        </p:nvSpPr>
        <p:spPr>
          <a:xfrm>
            <a:off x="366123" y="1904753"/>
            <a:ext cx="54864" cy="1325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F25AD97-0A25-D6E0-C7C1-0762DFF1BCD9}"/>
              </a:ext>
            </a:extLst>
          </p:cNvPr>
          <p:cNvSpPr/>
          <p:nvPr/>
        </p:nvSpPr>
        <p:spPr>
          <a:xfrm>
            <a:off x="549003" y="1968761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</a:rPr>
              <a:t>🔐  Authentication</a:t>
            </a:r>
            <a:endParaRPr lang="en-US" sz="15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733DC87-A414-4CDE-EDB8-CB8C411E3BE0}"/>
              </a:ext>
            </a:extLst>
          </p:cNvPr>
          <p:cNvSpPr/>
          <p:nvPr/>
        </p:nvSpPr>
        <p:spPr>
          <a:xfrm>
            <a:off x="549003" y="2334521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"Are you who you say you are?"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Verify identity — password, MFA, biometrics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Result: you are let INTO the system</a:t>
            </a:r>
            <a:endParaRPr lang="en-US" sz="115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00793E40-6ADD-2D74-B154-5401C3546720}"/>
              </a:ext>
            </a:extLst>
          </p:cNvPr>
          <p:cNvSpPr/>
          <p:nvPr/>
        </p:nvSpPr>
        <p:spPr>
          <a:xfrm>
            <a:off x="4755243" y="1904753"/>
            <a:ext cx="4023360" cy="1325880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5323CAC6-BD53-6C74-7512-58B4DDC2576C}"/>
              </a:ext>
            </a:extLst>
          </p:cNvPr>
          <p:cNvSpPr/>
          <p:nvPr/>
        </p:nvSpPr>
        <p:spPr>
          <a:xfrm>
            <a:off x="4755243" y="1904753"/>
            <a:ext cx="54864" cy="13258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5C6A3A6-EFCE-F2EA-8033-4D14F000BB26}"/>
              </a:ext>
            </a:extLst>
          </p:cNvPr>
          <p:cNvSpPr/>
          <p:nvPr/>
        </p:nvSpPr>
        <p:spPr>
          <a:xfrm>
            <a:off x="4938123" y="1968761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</a:rPr>
              <a:t>🛡️  Authorization</a:t>
            </a:r>
            <a:endParaRPr lang="en-US" sz="15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CBBC024C-2E46-3A49-AB95-0B0745705D81}"/>
              </a:ext>
            </a:extLst>
          </p:cNvPr>
          <p:cNvSpPr/>
          <p:nvPr/>
        </p:nvSpPr>
        <p:spPr>
          <a:xfrm>
            <a:off x="4938123" y="2334521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"What are you allowed to do inside?"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Check roles, permissions, policies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Result: you can access only YOUR resources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CONFIDENTIALITY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-&gt; Authorization -&gt; Access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The complete flow — from login request to accessing a specific resource: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664208"/>
            <a:ext cx="8595360" cy="33101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CONFIDENTIALITY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Attack: IDOR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IDOR = Insecure Direct Object Reference. Authentication worked — but authorization check was missing.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691640"/>
            <a:ext cx="8595360" cy="2651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4434840"/>
            <a:ext cx="54864" cy="59436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449884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Fix: on EVERY request, check that the requesting user owns the resource they are asking for. Never trust IDs from the URL without verifying ownership.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CONFIDENTIALITY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"Give users only the minimum access they need to do their job — and nothing more."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691640"/>
            <a:ext cx="8595360" cy="24688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251960"/>
            <a:ext cx="8412480" cy="749808"/>
          </a:xfrm>
          <a:prstGeom prst="rect">
            <a:avLst/>
          </a:prstGeom>
          <a:solidFill>
            <a:srgbClr val="E3F2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4251960"/>
            <a:ext cx="54864" cy="7498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4315968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Why it matters: limits blast radius. If an account is compromised, the attacker can only access what that account was allowed to access. A receptionist account should never have database admin rights.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2A5F5"/>
                </a:solidFill>
              </a:rPr>
              <a:t>LAB 1 — Confidentiality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Authentication &amp; Authorization Bypass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88920" cy="3639312"/>
          </a:xfrm>
          <a:prstGeom prst="rect">
            <a:avLst/>
          </a:prstGeom>
          <a:solidFill>
            <a:srgbClr val="13253A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2788920" cy="54864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79476" y="146304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Credential Stuffing Awareness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9476" y="2048256"/>
            <a:ext cx="2578608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&gt; Visit haveibeenpwned.com with a test email address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&gt; Observe: how many breaches, which data types exposed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&gt; grep -c "" /usr/share/wordlists/rockyou.txt   # 14 million passwords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&gt; head -20 /usr/share/wordlists/rockyou.txt   # see real leaked passwords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&gt; python3 -c "print(14344392/1000/60, 'minutes to try all at 1000/sec')"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&gt; Discuss: why does MFA defeat credential stuffing completely?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4407408"/>
            <a:ext cx="2578608" cy="384048"/>
          </a:xfrm>
          <a:prstGeom prst="rect">
            <a:avLst/>
          </a:prstGeom>
          <a:solidFill>
            <a:srgbClr val="1565C0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44074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</a:rPr>
              <a:t>Connect theory to real-world credential attacks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800" dirty="0">
                <a:solidFill>
                  <a:srgbClr val="FFFFFF"/>
                </a:solidFill>
              </a:rPr>
              <a:t>BREAK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</a:rPr>
              <a:t>Coming up: Integrity — Encryption · Hashing · Cracking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1645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59669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2103120" y="457200"/>
            <a:ext cx="36576" cy="4023360"/>
          </a:xfrm>
          <a:prstGeom prst="rect">
            <a:avLst/>
          </a:prstGeom>
          <a:solidFill>
            <a:srgbClr val="05966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331720" y="54864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331720" y="1298448"/>
            <a:ext cx="6492240" cy="36576"/>
          </a:xfrm>
          <a:prstGeom prst="rect">
            <a:avLst/>
          </a:prstGeom>
          <a:solidFill>
            <a:srgbClr val="059669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31720" y="1426464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In this section: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828800"/>
            <a:ext cx="6492240" cy="603504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31720" y="1828800"/>
            <a:ext cx="45720" cy="60350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87168" y="1828800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Symmetric vs Asymmetric encryption — how and when to use each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2542032"/>
            <a:ext cx="6492240" cy="603504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31720" y="2542032"/>
            <a:ext cx="45720" cy="60350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87168" y="2542032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TLS/HTTPS: how the two types work together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31720" y="3255264"/>
            <a:ext cx="6492240" cy="603504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31720" y="3255264"/>
            <a:ext cx="45720" cy="60350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87168" y="3255264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Hashing step by step — with live examples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3968496"/>
            <a:ext cx="6492240" cy="603504"/>
          </a:xfrm>
          <a:prstGeom prst="rect">
            <a:avLst/>
          </a:prstGeom>
          <a:solidFill>
            <a:srgbClr val="059669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31720" y="3968496"/>
            <a:ext cx="45720" cy="60350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87168" y="3968496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Hash cracking: dictionary attacks and Hashcat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Integrity: Detect Any Tampering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54864" cy="6583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"Data is only what the owner intends — no tampering, no corruption, no unauthorised changes."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73936"/>
            <a:ext cx="8046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 system has integrity when the information it stores is only that which the owner intends to store.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8412480" cy="1143000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54864" cy="11430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3412"/>
                </a:solidFill>
              </a:rPr>
              <a:t>Real Example: WhisperGate Wiper — January 2022 (Ukraine)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450592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Stage 1: Overwrites the Master Boot Record with a fake ransomware message. Stage 2: Downloads malware that overwrites files permanently — making them unrecoverable.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→ Integrity violated. All data destroyed. Cannot simply "reboot" to recover.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3375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How integrity is protected: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2011680" cy="1298448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201168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307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# Hashing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Fingerprint of data — any change produces a completely different hash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3657600"/>
            <a:ext cx="2011680" cy="1298448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14600" y="3657600"/>
            <a:ext cx="201168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6040" y="37307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✍️ Digital Signatures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4041648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Cryptographic proof the data came from a specific person and was not changed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657600"/>
            <a:ext cx="2011680" cy="1298448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201168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37307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📋 Version Control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041648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Every modification tracked — who changed what and when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3657600"/>
            <a:ext cx="2011680" cy="1298448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12280" y="3657600"/>
            <a:ext cx="201168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03720" y="37307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✔️ Checksums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4041648"/>
            <a:ext cx="1828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Quick hash comparison to verify file integrity after download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vs Asymmetric Encryption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Two approaches to encryption — each with strengths and weaknesses: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664208"/>
            <a:ext cx="8595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HTTPS / TLS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HTTPS uses BOTH types — asymmetric for handshake, symmetric for data. Best of both worlds.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664208"/>
            <a:ext cx="859536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Hashing: The One-Way Fingerprint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 hash function takes any input and produces a fixed-length fingerprint. It is ONE-WAY — you cannot reverse it.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691640"/>
            <a:ext cx="8595360" cy="2697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480560"/>
            <a:ext cx="8412480" cy="530352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4480560"/>
            <a:ext cx="54864" cy="5303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454456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This is not encryption! You cannot "decrypt" a hash. To find the original value you must try inputs until the hash matches — that is cracking.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Hashing a Password — The Command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Run this in Kali Linux terminal: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-n "password123" | sha256sum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Output: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16352"/>
            <a:ext cx="841248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ef92b778bafe771e89245b89ecbc08a44a4e166c06659911881f383d4473e94f  -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2697480" cy="1444752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269748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5935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📏 Fixed length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91363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SHA-256 always outputs exactly 64 hex characters, regardless of input length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520440"/>
            <a:ext cx="2697480" cy="1444752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3520440"/>
            <a:ext cx="269748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35935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🔄 Deterministic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391363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"password123" will ALWAYS produce the same hash — run it twice and check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520440"/>
            <a:ext cx="2697480" cy="1444752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3520440"/>
            <a:ext cx="269748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35935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🧪 Try yourself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913632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Now run it in your terminal. The output must exactly match the hash above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Change One Character — See What Happens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The avalanche effect: changing even 1 character produces a completely different hash.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-n "password123" | sha256sum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8412480" cy="438912"/>
          </a:xfrm>
          <a:prstGeom prst="rect">
            <a:avLst/>
          </a:prstGeom>
          <a:solidFill>
            <a:srgbClr val="0D2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ef92b778bafe771e89245b89ecbc08a44a4e166c06659911881f383d4473e94f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7614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Change the "1" to a "2":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90672"/>
            <a:ext cx="841248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13639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-n "password124" | sha256sum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639312"/>
            <a:ext cx="8412480" cy="438912"/>
          </a:xfrm>
          <a:prstGeom prst="rect">
            <a:avLst/>
          </a:prstGeom>
          <a:solidFill>
            <a:srgbClr val="2B1D0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6850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23b2d03a1bb6e97024b8e1d45b14d3abe15a71c4ac0f9c3e0c2a45b70b2cbf4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187952"/>
            <a:ext cx="8412480" cy="804672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4187952"/>
            <a:ext cx="54864" cy="80467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Completely different hash — even though input changed by only 1 character.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56285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This means: if you hash a file and the hash changes → the file was modified. Integrity check passed/failed.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How Passwords Are Stored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Websites never store your actual password — only its hash. Here is why that matters: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664208"/>
            <a:ext cx="859536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Not All Hash Algorithms Are Equal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Algorithm choice is critical. Weak algorithms can be cracked in seconds: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011680" cy="3200400"/>
          </a:xfrm>
          <a:prstGeom prst="rect">
            <a:avLst/>
          </a:prstGeom>
          <a:solidFill>
            <a:srgbClr val="FFF1F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01168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76479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MD5 (128-bit)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05740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BROKEN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359152"/>
            <a:ext cx="18653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Collision attacks known. Do NOT use for security. Cracked in milliseconds.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3429000"/>
            <a:ext cx="1865376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456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"hello" | md5sum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14600" y="1691640"/>
            <a:ext cx="2011680" cy="3200400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14600" y="1691640"/>
            <a:ext cx="2011680" cy="457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87752" y="176479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SHA-1 (160-bit)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87752" y="205740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87752" y="2359152"/>
            <a:ext cx="18653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Collision found 2017 (SHAttered attack). Legacy only.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87752" y="3429000"/>
            <a:ext cx="1865376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06040" y="3456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"hello" | sha1sum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63440" y="1691640"/>
            <a:ext cx="2011680" cy="3200400"/>
          </a:xfrm>
          <a:prstGeom prst="rect">
            <a:avLst/>
          </a:prstGeom>
          <a:solidFill>
            <a:srgbClr val="ECFD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1691640"/>
            <a:ext cx="2011680" cy="457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36592" y="176479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SHA-256 (256-bit)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6592" y="205740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SECURE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6592" y="2359152"/>
            <a:ext cx="18653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Current standard. Used in TLS certificates, Git, Bitcoin, HMAC.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6592" y="3429000"/>
            <a:ext cx="1865376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456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"hello" | sha256sum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812280" y="1691640"/>
            <a:ext cx="2011680" cy="3200400"/>
          </a:xfrm>
          <a:prstGeom prst="rect">
            <a:avLst/>
          </a:prstGeom>
          <a:solidFill>
            <a:srgbClr val="EDE9F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12280" y="1691640"/>
            <a:ext cx="201168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85432" y="176479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bcrypt (Variable)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85432" y="2057400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BEST FOR PASSWORDS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85432" y="2359152"/>
            <a:ext cx="18653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Intentionally slow — GPU-resistant. Salted automatically. Use for login systems.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85432" y="3429000"/>
            <a:ext cx="1865376" cy="43891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03720" y="34564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python3 -c "import bcrypt; print(bcrypt.hashpw(b'hello', bcrypt.gensalt()))"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Cracking Step 1: The Dictionary Attack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Cracking does not reverse the hash — it re-hashes common words until one matches.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664208"/>
            <a:ext cx="859536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Cracking Step 2: Hashcat Commands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Start with a simple target — then increase difficulty: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8412480" cy="713232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54864" cy="7132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1. Create a target hash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709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-n "password123" | sha256sum | cut -d' ' -f1 &gt; hash.txt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hash.txt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We are cracking our own known hash — to learn the process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713232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54864" cy="7132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5237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2. Dictionary attack (SHA-256)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514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-m 1400 hash.txt /usr/share/wordlists/rockyou.txt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88950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Mode 1400 = SHA-256. rockyou.txt has 14 million real leaked passwords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8412480" cy="713232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54864" cy="7132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3284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3. Rule-based attack (mutations)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3319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-m 1400 hash.txt rockyou.txt -r /usr/share/hashcat/rules/best64.rule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69417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Rules add mutations: P@ssword, password1, PASSWORD, etc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078224"/>
            <a:ext cx="8412480" cy="713232"/>
          </a:xfrm>
          <a:prstGeom prst="rect">
            <a:avLst/>
          </a:prstGeom>
          <a:solidFill>
            <a:srgbClr val="1E293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4078224"/>
            <a:ext cx="54864" cy="7132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133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</a:rPr>
              <a:t>4. Check results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41239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hashcat -m 1400 hash.txt --show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49884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See what was cracked and how fast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Cracking Step 3: Why Password Length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Increasing password LENGTH adds exponential cracking time. Complexity only adds polynomial time.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GPU vs CPU cracking speed: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29968"/>
          <a:ext cx="4389120" cy="10972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GPU (RTX 3090)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CPU (i9)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MD5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68,185 MH/s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450 MH/s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SHA-1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21,528 MH/s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298 MH/s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SHA-256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9,276 MH/s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134 MH/s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0" y="1737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Cracking time — 62 character set:</a:t>
            </a:r>
            <a:endParaRPr lang="en-US" sz="12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029968"/>
          <a:ext cx="3749040" cy="1371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Password length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GPU time (SHA-256)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 chars ("hello")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Under 1 second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 chars ("welcome1")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About 6 hours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 chars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About 2.8 years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12+ chars (passphrase)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Millions of years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3611880"/>
            <a:ext cx="8412480" cy="1572768"/>
          </a:xfrm>
          <a:prstGeom prst="rect">
            <a:avLst/>
          </a:prstGeom>
          <a:solidFill>
            <a:srgbClr val="FEF3C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65760" y="3611880"/>
            <a:ext cx="54864" cy="15727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48640" y="36758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Key insight: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977640"/>
            <a:ext cx="80467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"correcthorsebatterystaple" (4 words, no special chars) is harder to crack than "P@ssw0rd!" (8 chars, complex).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Password policy recommendation: require length (12+ chars) over complexity. Use a passphrase.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4D399"/>
                </a:solidFill>
              </a:rPr>
              <a:t>LAB 2 — Integrity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Hashing · Encryption · Hash Cracking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88920" cy="3639312"/>
          </a:xfrm>
          <a:prstGeom prst="rect">
            <a:avLst/>
          </a:prstGeom>
          <a:solidFill>
            <a:srgbClr val="0D2B22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278892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177393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OpenSSL — Hash live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212848"/>
            <a:ext cx="2578608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echo -n "hello" | sha256sum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echo -n "hellO" | sha256sum   # spot the difference!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openssl enc -aes-256-cbc -in file.txt -out enc.bin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openssl enc -d -aes-256-cbc -in enc.bin -out dec.txt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sha256sum file.txt dec.txt   # verify they match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4407408"/>
            <a:ext cx="2578608" cy="384048"/>
          </a:xfrm>
          <a:prstGeom prst="rect">
            <a:avLst/>
          </a:prstGeom>
          <a:solidFill>
            <a:srgbClr val="059669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44074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</a:rPr>
              <a:t>See hashing and symmetric encryption live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261872"/>
            <a:ext cx="2788920" cy="3639312"/>
          </a:xfrm>
          <a:prstGeom prst="rect">
            <a:avLst/>
          </a:prstGeom>
          <a:solidFill>
            <a:srgbClr val="0D2B22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261872"/>
            <a:ext cx="278892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10128" y="177393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Hashcat — Crack a hash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212848"/>
            <a:ext cx="2578608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echo -n "password123" | sha256sum &gt; hash.txt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hashcat -m 1400 hash.txt /usr/share/wordlists/rockyou.txt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Try an 8-char mixed password — observe time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hashcat -m 1400 hash.txt wordlist -r best64.rule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4407408"/>
            <a:ext cx="2578608" cy="384048"/>
          </a:xfrm>
          <a:prstGeom prst="rect">
            <a:avLst/>
          </a:prstGeom>
          <a:solidFill>
            <a:srgbClr val="059669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0128" y="44074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</a:rPr>
              <a:t>Feel the difference between algorithms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spc="800" dirty="0">
                <a:solidFill>
                  <a:srgbClr val="FFFFFF"/>
                </a:solidFill>
              </a:rPr>
              <a:t>BREAK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D34D"/>
                </a:solidFill>
              </a:rPr>
              <a:t>Coming up: Availability — DDoS · Backups · Ransomware · Proof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1645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D97706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2103120" y="457200"/>
            <a:ext cx="36576" cy="4023360"/>
          </a:xfrm>
          <a:prstGeom prst="rect">
            <a:avLst/>
          </a:prstGeom>
          <a:solidFill>
            <a:srgbClr val="D9770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331720" y="54864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331720" y="1298448"/>
            <a:ext cx="6492240" cy="36576"/>
          </a:xfrm>
          <a:prstGeom prst="rect">
            <a:avLst/>
          </a:prstGeom>
          <a:solidFill>
            <a:srgbClr val="D9770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31720" y="1426464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In this section: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828800"/>
            <a:ext cx="6492240" cy="603504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31720" y="1828800"/>
            <a:ext cx="45720" cy="60350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87168" y="1828800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What availability means and what threatens 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2542032"/>
            <a:ext cx="6492240" cy="603504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31720" y="2542032"/>
            <a:ext cx="45720" cy="60350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87168" y="2542032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DDoS attacks: types and how they work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31720" y="3255264"/>
            <a:ext cx="6492240" cy="603504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31720" y="3255264"/>
            <a:ext cx="45720" cy="60350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87168" y="3255264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Mitigation strategies for DDoS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3968496"/>
            <a:ext cx="6492240" cy="603504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331720" y="3968496"/>
            <a:ext cx="45720" cy="60350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87168" y="3968496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Backups: Full, Incremental, Differential — and the 3-2-1 rule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AVAILABILITY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Keep Systems Running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54864" cy="6583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"The property of being accessible and usable upon demand by an authorised entity." — ISO/IEC 27000:2018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8046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A system is available if authorised users can reach it when they need to. An attacker who blocks access has violated availability.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8412480" cy="960120"/>
          </a:xfrm>
          <a:prstGeom prst="rect">
            <a:avLst/>
          </a:prstGeom>
          <a:solidFill>
            <a:srgbClr val="FFF7E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54864" cy="9601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3412"/>
                </a:solidFill>
              </a:rPr>
              <a:t>Real Example: Viasat Satellite Attack — 24 February 2022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AcidRain wiper malware knocked out Ukrainian military satellite internet at the exact moment Russia invaded. VPN misconfiguration allowed initial access. Thousands of modems permanently destroyed.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What threatens availability: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2011680" cy="1481328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2011680" cy="45720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🌊 DDoS Attacks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1363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Flood of traffic overwhelms servers, making them unreachable for legitimate users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3493008"/>
            <a:ext cx="2011680" cy="1481328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14600" y="3493008"/>
            <a:ext cx="2011680" cy="45720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604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💀 Ransomware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391363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Encrypts all files — users cannot access their own data until ransom paid (or backup restored)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493008"/>
            <a:ext cx="2011680" cy="1481328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3493008"/>
            <a:ext cx="2011680" cy="45720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⚠️ Hardware Failure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91363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Single point of failure with no redundancy means total outage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3493008"/>
            <a:ext cx="2011680" cy="1481328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12280" y="3493008"/>
            <a:ext cx="2011680" cy="45720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0372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🏚️ Natural Disasters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391363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Fires, floods, power cuts — physical destruction of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AVAILABILITY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DDoS: The Highway Traffic Jam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"A DDoS attack is like a traffic jam clogging the highway — legitimate traffic cannot get through."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691640"/>
            <a:ext cx="8595360" cy="2606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389120"/>
            <a:ext cx="8412480" cy="640080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4389120"/>
            <a:ext cx="54864" cy="6400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44531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Botnet: thousands of infected "zombie" devices all controlled by the attacker. Each sends traffic — together they flood the server.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AVAILABILITY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Types and Mitigation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1078992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54864" cy="10789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</a:rPr>
              <a:t>🌊 Volumetric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Flood all available bandwidth. DNS amplification, UDP floods.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Defence: CDN / Anycast — distribute load across global nodes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8412480" cy="1078992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54864" cy="10789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</a:rPr>
              <a:t>⚙️ Protocol (L3/L4)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Exhaust server connection tables. SYN flood overwhelms TCP state.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Defence: SYN cookies, firewall tuning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739896"/>
            <a:ext cx="8412480" cy="1078992"/>
          </a:xfrm>
          <a:prstGeom prst="rect">
            <a:avLst/>
          </a:prstGeom>
          <a:solidFill>
            <a:srgbClr val="FFFBE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739896"/>
            <a:ext cx="54864" cy="10789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8039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</a:rPr>
              <a:t>📱 Application (L7)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13308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Expensive HTTP requests — looks like real traffic, exhausts app server.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Defence: Rate limiting + WAF + CAPTCHA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956048"/>
            <a:ext cx="841248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868680"/>
          </a:xfrm>
          <a:prstGeom prst="rect">
            <a:avLst/>
          </a:prstGeom>
          <a:solidFill>
            <a:srgbClr val="FEF3C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54864" cy="8686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1788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Key challenge: Over-filtering also damages availability.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47141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Blocking too aggressively during a DDoS also blocks your legitimate customers. Security controls themselves can threaten availability — always balance.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AVAILABILITY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Backups: Your Defence Against Ransomware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"A backup is a point-in-time copy of data. If data is lost or corrupted — you restore from the backup."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691640"/>
            <a:ext cx="8595360" cy="2880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EF3C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4663440"/>
            <a:ext cx="54864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471830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3-2-1 Rule: Keep 3 copies · On 2 different media types · With 1 copy offsite — always test your restore process!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AVAILABILITY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Types: Full · Incremental · Differential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Choose the type based on your recovery time, storage budget, and how often data changes: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664208"/>
            <a:ext cx="87782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0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78BFA"/>
                </a:solidFill>
              </a:rPr>
              <a:t>LAB 3 — Availability &amp; Proof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Backup Drill · Responder · Digital Signatures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88920" cy="3639312"/>
          </a:xfrm>
          <a:prstGeom prst="rect">
            <a:avLst/>
          </a:prstGeom>
          <a:solidFill>
            <a:srgbClr val="1A0F38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2788920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177393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Backup &amp; Restore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212848"/>
            <a:ext cx="2578608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tar -czvf backup.tar.gz /var/www/html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rm -rf /var/www/html   # simulate data loss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tar -xzvf backup.tar.gz -C /   # restore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sha256sum backup.tar.gz   # verify integrity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Try without backup — appreciate the difference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4407408"/>
            <a:ext cx="2578608" cy="384048"/>
          </a:xfrm>
          <a:prstGeom prst="rect">
            <a:avLst/>
          </a:prstGeom>
          <a:solidFill>
            <a:srgbClr val="7C3AED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44074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</a:rPr>
              <a:t>Feel the value of backups under pressure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261872"/>
            <a:ext cx="2788920" cy="3639312"/>
          </a:xfrm>
          <a:prstGeom prst="rect">
            <a:avLst/>
          </a:prstGeom>
          <a:solidFill>
            <a:srgbClr val="1A0F38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261872"/>
            <a:ext cx="2788920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10128" y="177393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Responder — NTLM capture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212848"/>
            <a:ext cx="2578608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sudo responder -I eth0 -rdw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From Windows VM: connect to \\KaliIP\share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Observe NTLMv2 hash captured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hashcat -m 5600 hash.txt rockyou.txt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This breaks Confidentiality AND Availability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4407408"/>
            <a:ext cx="2578608" cy="384048"/>
          </a:xfrm>
          <a:prstGeom prst="rect">
            <a:avLst/>
          </a:prstGeom>
          <a:solidFill>
            <a:srgbClr val="7C3AED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0128" y="44074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</a:rPr>
              <a:t>See availability attack leading to credential theft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261872"/>
            <a:ext cx="2788920" cy="3639312"/>
          </a:xfrm>
          <a:prstGeom prst="rect">
            <a:avLst/>
          </a:prstGeom>
          <a:solidFill>
            <a:srgbClr val="1A0F38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1261872"/>
            <a:ext cx="2788920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36208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36208" y="177393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Digital Signatures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2212848"/>
            <a:ext cx="2578608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openssl genrsa -out private.pem 2048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openssl rsa -in private.pem -pubout -out pub.pem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echo "Transfer 500 EUR" &gt; msg.txt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openssl dgst -sha256 -sign private.pem -out sig.bin msg.txt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openssl dgst -sha256 -verify pub.pem -signature sig.bin msg.txt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Change "500" to "5000" — re-verify — watch it fail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36208" y="4407408"/>
            <a:ext cx="2578608" cy="384048"/>
          </a:xfrm>
          <a:prstGeom prst="rect">
            <a:avLst/>
          </a:prstGeom>
          <a:solidFill>
            <a:srgbClr val="7C3AED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36208" y="4407408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</a:rPr>
              <a:t>Create and verify a digital signature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1645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7C3AED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2103120" y="457200"/>
            <a:ext cx="36576" cy="402336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331720" y="54864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/ Accountability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331720" y="1298448"/>
            <a:ext cx="6492240" cy="36576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31720" y="1426464"/>
            <a:ext cx="6492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In this section: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828800"/>
            <a:ext cx="6492240" cy="603504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331720" y="1828800"/>
            <a:ext cx="45720" cy="60350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87168" y="1828800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Authenticity: verifying that an entity is who it claims to be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2542032"/>
            <a:ext cx="6492240" cy="603504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31720" y="2542032"/>
            <a:ext cx="45720" cy="60350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87168" y="2542032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Non-repudiation: you cannot deny performing an action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31720" y="3255264"/>
            <a:ext cx="6492240" cy="603504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31720" y="3255264"/>
            <a:ext cx="45720" cy="60350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87168" y="3255264"/>
            <a:ext cx="6263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How digital signatures provide both properties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PROOF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&amp; Non-repudiation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1938528"/>
          </a:xfrm>
          <a:prstGeom prst="rect">
            <a:avLst/>
          </a:prstGeom>
          <a:solidFill>
            <a:srgbClr val="EDE9FE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02336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1D95"/>
                </a:solidFill>
              </a:rPr>
              <a:t>🆔  Authenticity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3AED"/>
                </a:solidFill>
              </a:rPr>
              <a:t>"The entity is what it claims to be — not an impostor."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HTTPS certificate: proves you're on the real bank website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SSH key: proves the server is who you expect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Prevents: identity spoofing, phishing, man-in-the-middle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114800" cy="1938528"/>
          </a:xfrm>
          <a:prstGeom prst="rect">
            <a:avLst/>
          </a:prstGeom>
          <a:solidFill>
            <a:srgbClr val="EDE9FE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298448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3898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1D95"/>
                </a:solidFill>
              </a:rPr>
              <a:t>✍️  Non-repudiation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17830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3AED"/>
                </a:solidFill>
              </a:rPr>
              <a:t>"You cannot deny having performed an action."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148840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Email digital signature: "Carlos sent this — he cannot deny it"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Blockchain: permanent, immutable public record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Audit logs: timestamped, tamper-evident trail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How Proof is implemented in practice: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2011680" cy="1353312"/>
          </a:xfrm>
          <a:prstGeom prst="rect">
            <a:avLst/>
          </a:prstGeom>
          <a:solidFill>
            <a:srgbClr val="F3F0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201168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730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Digital Signatures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41648"/>
            <a:ext cx="1828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Private key signs, public key verifies. Proves origin and detects tampering in one step.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14600" y="3657600"/>
            <a:ext cx="2011680" cy="1353312"/>
          </a:xfrm>
          <a:prstGeom prst="rect">
            <a:avLst/>
          </a:prstGeom>
          <a:solidFill>
            <a:srgbClr val="F3F0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14600" y="3657600"/>
            <a:ext cx="201168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06040" y="3730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PKI / Certificates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4041648"/>
            <a:ext cx="1828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Certificate Authority vouches for identity. Foundation of HTTPS and code signing.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2011680" cy="1353312"/>
          </a:xfrm>
          <a:prstGeom prst="rect">
            <a:avLst/>
          </a:prstGeom>
          <a:solidFill>
            <a:srgbClr val="F3F0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3657600"/>
            <a:ext cx="201168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730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Audit Logs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041648"/>
            <a:ext cx="1828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Every action timestamped and linked to a user identity. Legal admissibility.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12280" y="3657600"/>
            <a:ext cx="2011680" cy="1353312"/>
          </a:xfrm>
          <a:prstGeom prst="rect">
            <a:avLst/>
          </a:prstGeom>
          <a:solidFill>
            <a:srgbClr val="F3F0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12280" y="3657600"/>
            <a:ext cx="201168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03720" y="37307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Blockchain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4041648"/>
            <a:ext cx="1828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Immutable distributed ledger — once written, cannot be changed or denied.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Balancing the CIAP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56032" y="914400"/>
            <a:ext cx="8631936" cy="841248"/>
          </a:xfrm>
          <a:prstGeom prst="rect">
            <a:avLst/>
          </a:prstGeom>
          <a:solidFill>
            <a:srgbClr val="0D254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54864" cy="841248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1152144"/>
            <a:ext cx="329184" cy="329184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987552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A5F5"/>
                </a:solidFill>
              </a:rPr>
              <a:t>Confidentiality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59152" y="987552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</a:rPr>
              <a:t>Attacks: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59152" y="1243584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Credential stuffing · Brute force · Broken auth · IDOR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76672" y="987552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E7B7"/>
                </a:solidFill>
              </a:rPr>
              <a:t>Defence: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76672" y="1243584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Encryption · MFA · Access controls · Segmentation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1819656"/>
            <a:ext cx="8631936" cy="841248"/>
          </a:xfrm>
          <a:prstGeom prst="rect">
            <a:avLst/>
          </a:prstGeom>
          <a:solidFill>
            <a:srgbClr val="0D254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1819656"/>
            <a:ext cx="54864" cy="841248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" y="2057400"/>
            <a:ext cx="329184" cy="32918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1892808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Integrity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59152" y="1892808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</a:rPr>
              <a:t>Attacks: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59152" y="214884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WhisperGate wiper · Data tampering · Log deletion · SQL injection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76672" y="1892808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E7B7"/>
                </a:solidFill>
              </a:rPr>
              <a:t>Defence: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76672" y="2148840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Hashing · Digital signatures · Version control · Input validation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724912"/>
            <a:ext cx="8631936" cy="841248"/>
          </a:xfrm>
          <a:prstGeom prst="rect">
            <a:avLst/>
          </a:prstGeom>
          <a:solidFill>
            <a:srgbClr val="0D254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2724912"/>
            <a:ext cx="54864" cy="841248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2962656"/>
            <a:ext cx="329184" cy="329184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962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2798064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</a:rPr>
              <a:t>Availability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59152" y="2798064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</a:rPr>
              <a:t>Attacks: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59152" y="305409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DDoS (volumetric/protocol/L7) · Ransomware · Hardware failure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76672" y="2798064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E7B7"/>
                </a:solidFill>
              </a:rPr>
              <a:t>Defence: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76672" y="3054096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Rate limiting · WAF · CDN · Redundancy · 3-2-1 Backups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3630168"/>
            <a:ext cx="8631936" cy="841248"/>
          </a:xfrm>
          <a:prstGeom prst="rect">
            <a:avLst/>
          </a:prstGeom>
          <a:solidFill>
            <a:srgbClr val="0D254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56032" y="3630168"/>
            <a:ext cx="54864" cy="84124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4048" y="3867912"/>
            <a:ext cx="329184" cy="32918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3703320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Proof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59152" y="370332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</a:rPr>
              <a:t>Attacks: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59152" y="395935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Identity spoofing · Repudiation · Audit log tampering · Deepfakes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76672" y="3703320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E7B7"/>
                </a:solidFill>
              </a:rPr>
              <a:t>Defence: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76672" y="3959352"/>
            <a:ext cx="3401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Digital signatures · PKI/Certificates · Tamper-evident audit logs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56032" y="4617720"/>
            <a:ext cx="8631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</a:rPr>
              <a:t>Security controls that are too strict can themselves threaten availability. Always balance.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QUIZ — Question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1170432"/>
          </a:xfrm>
          <a:prstGeom prst="rect">
            <a:avLst/>
          </a:prstGeom>
          <a:solidFill>
            <a:srgbClr val="1325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1. You receive an email from "bank@secure-login.baank.com" asking for your password. Which CIAP pillar does this attack target?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8503920" cy="548640"/>
          </a:xfrm>
          <a:prstGeom prst="rect">
            <a:avLst/>
          </a:prstGeom>
          <a:solidFill>
            <a:srgbClr val="0D2B5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54864" cy="5486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856232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A) Integrity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487168"/>
            <a:ext cx="8503920" cy="548640"/>
          </a:xfrm>
          <a:prstGeom prst="rect">
            <a:avLst/>
          </a:prstGeom>
          <a:solidFill>
            <a:srgbClr val="0D2B2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54864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514600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B) Confidentiality 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145536"/>
            <a:ext cx="8503920" cy="548640"/>
          </a:xfrm>
          <a:prstGeom prst="rect">
            <a:avLst/>
          </a:prstGeom>
          <a:solidFill>
            <a:srgbClr val="2B1D0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3145536"/>
            <a:ext cx="54864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172968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C) Availability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803904"/>
            <a:ext cx="8503920" cy="548640"/>
          </a:xfrm>
          <a:prstGeom prst="rect">
            <a:avLst/>
          </a:prstGeom>
          <a:solidFill>
            <a:srgbClr val="1A0F3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803904"/>
            <a:ext cx="54864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831336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D) Proof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QUIZ — Question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1170432"/>
          </a:xfrm>
          <a:prstGeom prst="rect">
            <a:avLst/>
          </a:prstGeom>
          <a:solidFill>
            <a:srgbClr val="1325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2. A wiper malware overwrites all files on a hospital server. Which TWO pillars are violated?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8503920" cy="548640"/>
          </a:xfrm>
          <a:prstGeom prst="rect">
            <a:avLst/>
          </a:prstGeom>
          <a:solidFill>
            <a:srgbClr val="0D2B5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54864" cy="5486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856232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A) Confidentiality + Proof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487168"/>
            <a:ext cx="8503920" cy="548640"/>
          </a:xfrm>
          <a:prstGeom prst="rect">
            <a:avLst/>
          </a:prstGeom>
          <a:solidFill>
            <a:srgbClr val="0D2B2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54864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514600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B) Availability + Confidentiality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145536"/>
            <a:ext cx="8503920" cy="548640"/>
          </a:xfrm>
          <a:prstGeom prst="rect">
            <a:avLst/>
          </a:prstGeom>
          <a:solidFill>
            <a:srgbClr val="2B1D0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3145536"/>
            <a:ext cx="54864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172968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C) Integrity + Availability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803904"/>
            <a:ext cx="8503920" cy="548640"/>
          </a:xfrm>
          <a:prstGeom prst="rect">
            <a:avLst/>
          </a:prstGeom>
          <a:solidFill>
            <a:srgbClr val="1A0F3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803904"/>
            <a:ext cx="54864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3831336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D) Proof + Integrity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QUIZ — Question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1170432"/>
          </a:xfrm>
          <a:prstGeom prst="rect">
            <a:avLst/>
          </a:prstGeom>
          <a:solidFill>
            <a:srgbClr val="1325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3. Which property of the CIA triad does having a reasonable password length policy help protect?  </a:t>
            </a:r>
            <a:endParaRPr lang="en-US" sz="1450" dirty="0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FCC84437-342C-A119-8E0F-F6E2BC121148}"/>
              </a:ext>
            </a:extLst>
          </p:cNvPr>
          <p:cNvSpPr/>
          <p:nvPr/>
        </p:nvSpPr>
        <p:spPr>
          <a:xfrm>
            <a:off x="320040" y="1828800"/>
            <a:ext cx="8503920" cy="548640"/>
          </a:xfrm>
          <a:prstGeom prst="rect">
            <a:avLst/>
          </a:prstGeom>
          <a:solidFill>
            <a:srgbClr val="0D2B5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D8832D67-3F35-906B-8B7B-813FAF5037E5}"/>
              </a:ext>
            </a:extLst>
          </p:cNvPr>
          <p:cNvSpPr/>
          <p:nvPr/>
        </p:nvSpPr>
        <p:spPr>
          <a:xfrm>
            <a:off x="320040" y="1828800"/>
            <a:ext cx="54864" cy="5486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CFD5889B-3E9F-E2D0-D2E8-326862CEF054}"/>
              </a:ext>
            </a:extLst>
          </p:cNvPr>
          <p:cNvSpPr/>
          <p:nvPr/>
        </p:nvSpPr>
        <p:spPr>
          <a:xfrm>
            <a:off x="475488" y="1856232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A) Integrity</a:t>
            </a:r>
            <a:endParaRPr lang="en-US" sz="1300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D6B663DB-5A88-21B0-FC03-5DBFC88DDB79}"/>
              </a:ext>
            </a:extLst>
          </p:cNvPr>
          <p:cNvSpPr/>
          <p:nvPr/>
        </p:nvSpPr>
        <p:spPr>
          <a:xfrm>
            <a:off x="320040" y="2487168"/>
            <a:ext cx="8503920" cy="548640"/>
          </a:xfrm>
          <a:prstGeom prst="rect">
            <a:avLst/>
          </a:prstGeom>
          <a:solidFill>
            <a:srgbClr val="0D2B2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BAA9D7F6-2D4F-B1E0-1B85-795200090804}"/>
              </a:ext>
            </a:extLst>
          </p:cNvPr>
          <p:cNvSpPr/>
          <p:nvPr/>
        </p:nvSpPr>
        <p:spPr>
          <a:xfrm>
            <a:off x="320040" y="2487168"/>
            <a:ext cx="54864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7B8C25B4-C8C9-759C-09AF-A78C45EADF4E}"/>
              </a:ext>
            </a:extLst>
          </p:cNvPr>
          <p:cNvSpPr/>
          <p:nvPr/>
        </p:nvSpPr>
        <p:spPr>
          <a:xfrm>
            <a:off x="475488" y="2514600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B) Confidentiality </a:t>
            </a:r>
            <a:endParaRPr lang="en-US" sz="1300" dirty="0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9121E1F2-E9AE-2DC6-C696-6661A0EFC5DF}"/>
              </a:ext>
            </a:extLst>
          </p:cNvPr>
          <p:cNvSpPr/>
          <p:nvPr/>
        </p:nvSpPr>
        <p:spPr>
          <a:xfrm>
            <a:off x="320040" y="3145536"/>
            <a:ext cx="8503920" cy="548640"/>
          </a:xfrm>
          <a:prstGeom prst="rect">
            <a:avLst/>
          </a:prstGeom>
          <a:solidFill>
            <a:srgbClr val="2B1D0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0CDB1F1D-2CFE-0DF8-99AD-BEE2795521CD}"/>
              </a:ext>
            </a:extLst>
          </p:cNvPr>
          <p:cNvSpPr/>
          <p:nvPr/>
        </p:nvSpPr>
        <p:spPr>
          <a:xfrm>
            <a:off x="320040" y="3145536"/>
            <a:ext cx="54864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1118D11A-50E4-BFF0-4F7F-6C03B3EB6A89}"/>
              </a:ext>
            </a:extLst>
          </p:cNvPr>
          <p:cNvSpPr/>
          <p:nvPr/>
        </p:nvSpPr>
        <p:spPr>
          <a:xfrm>
            <a:off x="475488" y="3172968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C) Availability</a:t>
            </a:r>
            <a:endParaRPr lang="en-US" sz="1300" dirty="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7A4C8818-F426-1236-B5C0-24FAE20552D9}"/>
              </a:ext>
            </a:extLst>
          </p:cNvPr>
          <p:cNvSpPr/>
          <p:nvPr/>
        </p:nvSpPr>
        <p:spPr>
          <a:xfrm>
            <a:off x="320040" y="3803904"/>
            <a:ext cx="8503920" cy="548640"/>
          </a:xfrm>
          <a:prstGeom prst="rect">
            <a:avLst/>
          </a:prstGeom>
          <a:solidFill>
            <a:srgbClr val="1A0F3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B14955B3-A3E3-D40A-6C0D-3122EE3D2A73}"/>
              </a:ext>
            </a:extLst>
          </p:cNvPr>
          <p:cNvSpPr/>
          <p:nvPr/>
        </p:nvSpPr>
        <p:spPr>
          <a:xfrm>
            <a:off x="320040" y="3803904"/>
            <a:ext cx="54864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3686E5C0-4BBC-417A-2575-B946455830D1}"/>
              </a:ext>
            </a:extLst>
          </p:cNvPr>
          <p:cNvSpPr/>
          <p:nvPr/>
        </p:nvSpPr>
        <p:spPr>
          <a:xfrm>
            <a:off x="475488" y="3831336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D) Proof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CAF9"/>
                </a:solidFill>
              </a:rPr>
              <a:t>QUIZ — Question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457200"/>
            <a:ext cx="8503920" cy="1170432"/>
          </a:xfrm>
          <a:prstGeom prst="rect">
            <a:avLst/>
          </a:prstGeom>
          <a:solidFill>
            <a:srgbClr val="13253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4. Bank Corp has a form on their website. The code that processes form submissions doesn't sanitize certain parameters. This enables any user to change values stored in tables on a SQL database. As a result, the user can change the amount of money that they have in their accounts. This is an example of a breach of which CIA triad property? </a:t>
            </a:r>
            <a:endParaRPr lang="en-US" sz="145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3FE30BE4-9C31-44D7-87A4-026A4ABC4A2D}"/>
              </a:ext>
            </a:extLst>
          </p:cNvPr>
          <p:cNvSpPr/>
          <p:nvPr/>
        </p:nvSpPr>
        <p:spPr>
          <a:xfrm>
            <a:off x="320040" y="1828800"/>
            <a:ext cx="8503920" cy="548640"/>
          </a:xfrm>
          <a:prstGeom prst="rect">
            <a:avLst/>
          </a:prstGeom>
          <a:solidFill>
            <a:srgbClr val="0D2B5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487CA8C6-658D-2E24-31FE-F2B7188A636C}"/>
              </a:ext>
            </a:extLst>
          </p:cNvPr>
          <p:cNvSpPr/>
          <p:nvPr/>
        </p:nvSpPr>
        <p:spPr>
          <a:xfrm>
            <a:off x="320040" y="1828800"/>
            <a:ext cx="54864" cy="5486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825683EA-95AD-AE65-9503-2D9B8828F498}"/>
              </a:ext>
            </a:extLst>
          </p:cNvPr>
          <p:cNvSpPr/>
          <p:nvPr/>
        </p:nvSpPr>
        <p:spPr>
          <a:xfrm>
            <a:off x="475488" y="1856232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A) Integrity</a:t>
            </a:r>
            <a:endParaRPr lang="en-US" sz="13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C14261C4-E984-E62E-BCBE-2BC29BE2841B}"/>
              </a:ext>
            </a:extLst>
          </p:cNvPr>
          <p:cNvSpPr/>
          <p:nvPr/>
        </p:nvSpPr>
        <p:spPr>
          <a:xfrm>
            <a:off x="320040" y="2487168"/>
            <a:ext cx="8503920" cy="548640"/>
          </a:xfrm>
          <a:prstGeom prst="rect">
            <a:avLst/>
          </a:prstGeom>
          <a:solidFill>
            <a:srgbClr val="0D2B2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DF35F19B-6D8E-A4BB-68BC-791A8D69DFC1}"/>
              </a:ext>
            </a:extLst>
          </p:cNvPr>
          <p:cNvSpPr/>
          <p:nvPr/>
        </p:nvSpPr>
        <p:spPr>
          <a:xfrm>
            <a:off x="320040" y="2487168"/>
            <a:ext cx="54864" cy="5486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17077C42-2209-925A-FAEC-3636BC9E7D7D}"/>
              </a:ext>
            </a:extLst>
          </p:cNvPr>
          <p:cNvSpPr/>
          <p:nvPr/>
        </p:nvSpPr>
        <p:spPr>
          <a:xfrm>
            <a:off x="475488" y="2514600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</a:rPr>
              <a:t>B) Confidentiality </a:t>
            </a:r>
            <a:endParaRPr lang="en-US" sz="13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A4619621-5604-9982-0441-51296D9E8C45}"/>
              </a:ext>
            </a:extLst>
          </p:cNvPr>
          <p:cNvSpPr/>
          <p:nvPr/>
        </p:nvSpPr>
        <p:spPr>
          <a:xfrm>
            <a:off x="320040" y="3145536"/>
            <a:ext cx="8503920" cy="548640"/>
          </a:xfrm>
          <a:prstGeom prst="rect">
            <a:avLst/>
          </a:prstGeom>
          <a:solidFill>
            <a:srgbClr val="2B1D0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A1FBD609-A606-CFB8-110B-A2BF29E585C2}"/>
              </a:ext>
            </a:extLst>
          </p:cNvPr>
          <p:cNvSpPr/>
          <p:nvPr/>
        </p:nvSpPr>
        <p:spPr>
          <a:xfrm>
            <a:off x="320040" y="3145536"/>
            <a:ext cx="54864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C6F4DB10-3B7E-04F8-1BDB-2643F1AD736A}"/>
              </a:ext>
            </a:extLst>
          </p:cNvPr>
          <p:cNvSpPr/>
          <p:nvPr/>
        </p:nvSpPr>
        <p:spPr>
          <a:xfrm>
            <a:off x="475488" y="3172968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C) Availability</a:t>
            </a:r>
            <a:endParaRPr lang="en-US" sz="13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AB86C424-3731-4C35-899B-3DAA8D6EB436}"/>
              </a:ext>
            </a:extLst>
          </p:cNvPr>
          <p:cNvSpPr/>
          <p:nvPr/>
        </p:nvSpPr>
        <p:spPr>
          <a:xfrm>
            <a:off x="320040" y="3803904"/>
            <a:ext cx="8503920" cy="548640"/>
          </a:xfrm>
          <a:prstGeom prst="rect">
            <a:avLst/>
          </a:prstGeom>
          <a:solidFill>
            <a:srgbClr val="1A0F3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2F8A36B0-DB9C-5893-A5E5-7235364F7C1A}"/>
              </a:ext>
            </a:extLst>
          </p:cNvPr>
          <p:cNvSpPr/>
          <p:nvPr/>
        </p:nvSpPr>
        <p:spPr>
          <a:xfrm>
            <a:off x="320040" y="3803904"/>
            <a:ext cx="54864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5B301A74-18FA-6F82-EE21-09937EA2C190}"/>
              </a:ext>
            </a:extLst>
          </p:cNvPr>
          <p:cNvSpPr/>
          <p:nvPr/>
        </p:nvSpPr>
        <p:spPr>
          <a:xfrm>
            <a:off x="475488" y="3831336"/>
            <a:ext cx="81838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D) Proof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57200"/>
            <a:ext cx="2057400" cy="1965960"/>
          </a:xfrm>
          <a:prstGeom prst="rect">
            <a:avLst/>
          </a:prstGeom>
          <a:solidFill>
            <a:srgbClr val="0D2540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457200"/>
            <a:ext cx="2057400" cy="54864"/>
          </a:xfrm>
          <a:prstGeom prst="rect">
            <a:avLst/>
          </a:prstGeom>
          <a:solidFill>
            <a:srgbClr val="42A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4320" y="157276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Confidentiality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457200"/>
            <a:ext cx="2057400" cy="1965960"/>
          </a:xfrm>
          <a:prstGeom prst="rect">
            <a:avLst/>
          </a:prstGeom>
          <a:solidFill>
            <a:srgbClr val="0D2540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468880" y="457200"/>
            <a:ext cx="205740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566928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457200"/>
            <a:ext cx="2057400" cy="1965960"/>
          </a:xfrm>
          <a:prstGeom prst="rect">
            <a:avLst/>
          </a:prstGeom>
          <a:solidFill>
            <a:srgbClr val="0D2540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457200"/>
            <a:ext cx="2057400" cy="54864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566928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663440" y="157276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Availability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457200"/>
            <a:ext cx="2057400" cy="1965960"/>
          </a:xfrm>
          <a:prstGeom prst="rect">
            <a:avLst/>
          </a:prstGeom>
          <a:solidFill>
            <a:srgbClr val="0D2540"/>
          </a:solidFill>
          <a:ln/>
          <a:effectLst>
            <a:outerShdw blurRad="127000" dist="508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58000" y="457200"/>
            <a:ext cx="2057400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0" y="566928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858000" y="157276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Proof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0CAF9"/>
                </a:solidFill>
              </a:rPr>
              <a:t>"What was the most surprising thing you learned today?"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EAFD2-2E14-CE41-C927-225C3EAD5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6">
            <a:extLst>
              <a:ext uri="{FF2B5EF4-FFF2-40B4-BE49-F238E27FC236}">
                <a16:creationId xmlns:a16="http://schemas.microsoft.com/office/drawing/2014/main" id="{0B0C8042-E6B9-DBF7-EFDC-57A2A945B096}"/>
              </a:ext>
            </a:extLst>
          </p:cNvPr>
          <p:cNvSpPr/>
          <p:nvPr/>
        </p:nvSpPr>
        <p:spPr>
          <a:xfrm>
            <a:off x="0" y="180397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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7654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3206</Words>
  <Application>Microsoft Office PowerPoint</Application>
  <PresentationFormat>On-screen Show (16:9)</PresentationFormat>
  <Paragraphs>467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CIAP Security Fundamentals</dc:title>
  <dc:subject>PptxGenJS Presentation</dc:subject>
  <dc:creator>PptxGenJS</dc:creator>
  <cp:lastModifiedBy>Aram Simonyane</cp:lastModifiedBy>
  <cp:revision>3</cp:revision>
  <dcterms:created xsi:type="dcterms:W3CDTF">2026-05-31T06:13:28Z</dcterms:created>
  <dcterms:modified xsi:type="dcterms:W3CDTF">2026-06-01T07:04:44Z</dcterms:modified>
</cp:coreProperties>
</file>